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188720"/>
            <a:ext cx="4023360" cy="4023360"/>
          </a:xfrm>
          <a:prstGeom prst="ellipse">
            <a:avLst/>
          </a:prstGeom>
          <a:solidFill>
            <a:srgbClr val="8917E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138160" y="2286000"/>
            <a:ext cx="2377440" cy="2377440"/>
          </a:xfrm>
          <a:prstGeom prst="ellipse">
            <a:avLst/>
          </a:prstGeom>
          <a:solidFill>
            <a:srgbClr val="00A39A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772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0A3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2026 과학기술진로프로그램(1차) · 결과보고 포트폴리오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거리 기반 자동 제어 시스템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FC7E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초음파 센서(HC-SR04)로 거리를 감지해 LED를 자동 제어하는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FC7E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Arduino + Streamlit 풀스택 IoT 시스템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520440"/>
            <a:ext cx="1325880" cy="402336"/>
          </a:xfrm>
          <a:prstGeom prst="roundRect">
            <a:avLst>
              <a:gd name="adj" fmla="val 50000"/>
            </a:avLst>
          </a:prstGeom>
          <a:solidFill>
            <a:srgbClr val="2A1E63"/>
          </a:solidFill>
          <a:ln w="12700">
            <a:solidFill>
              <a:srgbClr val="8917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520440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HC-SR04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57400" y="3520440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2A1E63"/>
          </a:solidFill>
          <a:ln w="12700">
            <a:solidFill>
              <a:srgbClr val="8917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7400" y="352044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Arduino Uno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49040" y="3520440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2A1E63"/>
          </a:solidFill>
          <a:ln w="12700">
            <a:solidFill>
              <a:srgbClr val="8917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352044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257800" y="3520440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2A1E63"/>
          </a:solidFill>
          <a:ln w="12700">
            <a:solidFill>
              <a:srgbClr val="8917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57800" y="352044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Python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315968"/>
            <a:ext cx="7772400" cy="0"/>
          </a:xfrm>
          <a:prstGeom prst="line">
            <a:avLst/>
          </a:prstGeom>
          <a:noFill/>
          <a:ln w="12700">
            <a:solidFill>
              <a:srgbClr val="473C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4805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C7E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이름 </a:t>
            </a:r>
            <a:pPr indent="0" marL="0">
              <a:buNone/>
            </a:pPr>
            <a:r>
              <a:rPr lang="en-US" sz="1600" dirty="0">
                <a:solidFill>
                  <a:srgbClr val="6E62A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________________</a:t>
            </a:r>
            <a:pPr indent="0" marL="0">
              <a:buNone/>
            </a:pPr>
            <a:r>
              <a:rPr lang="en-US" sz="1600" dirty="0">
                <a:solidFill>
                  <a:srgbClr val="CFC7E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      학번 </a:t>
            </a:r>
            <a:pPr indent="0" marL="0">
              <a:buNone/>
            </a:pPr>
            <a:r>
              <a:rPr lang="en-US" sz="1600" dirty="0">
                <a:solidFill>
                  <a:srgbClr val="6E62A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________________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8917E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78992" y="384048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2B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프로젝트 개요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17E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사람이 다가오면 자동으로 불을 켜는 ‘초음파 거리 기반’ IoT 자동 제어 시스템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44752"/>
            <a:ext cx="265176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9D4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91056"/>
            <a:ext cx="64008" cy="603504"/>
          </a:xfrm>
          <a:prstGeom prst="rect">
            <a:avLst/>
          </a:prstGeom>
          <a:solidFill>
            <a:srgbClr val="8917E0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572768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917E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 측정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58368" y="1901952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2B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초음파 센서 HC-SR04로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2B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사람과의 거리를 실시간 측정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64408" y="1444752"/>
            <a:ext cx="265176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9D4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4408" y="1591056"/>
            <a:ext cx="64008" cy="603504"/>
          </a:xfrm>
          <a:prstGeom prst="rect">
            <a:avLst/>
          </a:prstGeom>
          <a:solidFill>
            <a:srgbClr val="00A39A"/>
          </a:solidFill>
          <a:ln/>
        </p:spPr>
      </p:sp>
      <p:sp>
        <p:nvSpPr>
          <p:cNvPr id="12" name="Text 10"/>
          <p:cNvSpPr/>
          <p:nvPr/>
        </p:nvSpPr>
        <p:spPr>
          <a:xfrm>
            <a:off x="3465576" y="1572768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0A3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 판단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465576" y="1901952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2B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설정한 임계값과 비교해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2B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LED ON/OFF 여부를 결정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71616" y="1444752"/>
            <a:ext cx="265176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9D4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71616" y="1591056"/>
            <a:ext cx="64008" cy="603504"/>
          </a:xfrm>
          <a:prstGeom prst="rect">
            <a:avLst/>
          </a:prstGeom>
          <a:solidFill>
            <a:srgbClr val="8917E0"/>
          </a:solidFill>
          <a:ln/>
        </p:spPr>
      </p:sp>
      <p:sp>
        <p:nvSpPr>
          <p:cNvPr id="16" name="Text 14"/>
          <p:cNvSpPr/>
          <p:nvPr/>
        </p:nvSpPr>
        <p:spPr>
          <a:xfrm>
            <a:off x="6272784" y="1572768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917E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③ 제어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272784" y="1901952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2B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LED 자동 점등·소등 +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2B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Streamlit 대시보드로 시각화</a:t>
            </a:r>
            <a:endParaRPr lang="en-US" sz="1100" dirty="0"/>
          </a:p>
        </p:txBody>
      </p:sp>
      <p:pic>
        <p:nvPicPr>
          <p:cNvPr id="18" name="Image 0" descr="/Users/safecorners/Projects/streamlit/students/8days-nayoon/docs/diagrams/01-system-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2429" y="2395728"/>
            <a:ext cx="6239142" cy="23317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57200" y="479145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시스템 구성도 — 아두이노 ↔ Streamlit 앱이 USB 시리얼(JSON)로 통신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412480" y="4828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8917E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78992" y="384048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2B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사용 부품 &amp; 회로 연결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917E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사용 부품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389888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초음파 센서 HC-SR04 (거리 측정)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신호등 LED 모듈 (4핀 · 빨강 R만 사용)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B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아두이노 우노 (Arduino Uno)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917E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핀 연결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78608"/>
          <a:ext cx="397764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463040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부품 핀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17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아두이노 핀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17E0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HC-SR04 Trig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D2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E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HC-SR04 Echo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D3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E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HC-SR04 VCC / GND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5V / GND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E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신호등 R (빨강)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D13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E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신호등 GND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GND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E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B7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신호등 Y / G (미사용)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6B7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D12 / D11</a:t>
                      </a:r>
                      <a:endParaRPr lang="en-US" sz="10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E"/>
                    </a:solidFill>
                  </a:tcPr>
                </a:tc>
              </a:tr>
            </a:tbl>
          </a:graphicData>
        </a:graphic>
      </p:graphicFrame>
      <p:pic>
        <p:nvPicPr>
          <p:cNvPr id="9" name="Image 0" descr="/Users/safecorners/Projects/streamlit/students/8days-nayoon/docs/diagrams/07-wiring-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325880"/>
            <a:ext cx="4160520" cy="24963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3440" y="3867912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회로 연결도 (Arduino Uno 기준)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8412480" y="4828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8917E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78992" y="384048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2B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작동 원리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300" b="1" dirty="0">
                <a:solidFill>
                  <a:srgbClr val="2B2B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초음파 발사 → 반사 시간 측정 → 거리 계산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6B6B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거리(cm) = 시간(µs) × 0.034 ÷ 2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300" b="1" dirty="0">
                <a:solidFill>
                  <a:srgbClr val="2B2B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200ms마다 거리를 JSON으로 전송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6B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{"type":"sonar","distance":35}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2B2B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거리 &lt; 임계값 → LED ON, 그 외 → LED OFF</a:t>
            </a:r>
            <a:endParaRPr lang="en-US" sz="13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300" b="1" dirty="0">
                <a:solidFill>
                  <a:srgbClr val="2B2B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페일세이프: 2초 이상 신호 없으면 자동 OFF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703320"/>
            <a:ext cx="4937760" cy="960120"/>
          </a:xfrm>
          <a:prstGeom prst="roundRect">
            <a:avLst>
              <a:gd name="adj" fmla="val 7619"/>
            </a:avLst>
          </a:prstGeom>
          <a:solidFill>
            <a:srgbClr val="E2F5F3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370332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기본 임계값  </a:t>
            </a:r>
            <a:pPr indent="0" marL="0">
              <a:buNone/>
            </a:pPr>
            <a:r>
              <a:rPr lang="en-US" sz="3000" b="1" dirty="0">
                <a:solidFill>
                  <a:srgbClr val="00A3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15</a:t>
            </a:r>
            <a:pPr indent="0" marL="0">
              <a:buNone/>
            </a:pPr>
            <a:r>
              <a:rPr lang="en-US" sz="1600" b="1" dirty="0">
                <a:solidFill>
                  <a:srgbClr val="00A3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cm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46120" y="370332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대시보드에서 직접 조정 가능</a:t>
            </a:r>
            <a:endParaRPr lang="en-US" sz="1100" dirty="0"/>
          </a:p>
        </p:txBody>
      </p:sp>
      <p:pic>
        <p:nvPicPr>
          <p:cNvPr id="9" name="Image 0" descr="/Users/safecorners/Projects/streamlit/students/8days-nayoon/docs/diagrams/05-auto-control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371600"/>
            <a:ext cx="2247441" cy="32918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852160" y="46634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자동 제어 판단 흐름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412480" y="4828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8917E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78992" y="384048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2B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주요 기능 &amp; 기술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974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4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63624"/>
            <a:ext cx="64008" cy="987552"/>
          </a:xfrm>
          <a:prstGeom prst="rect">
            <a:avLst/>
          </a:prstGeom>
          <a:solidFill>
            <a:srgbClr val="8917E0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545336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917E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실시간 대시보드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8368" y="1874520"/>
            <a:ext cx="2368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2B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0.3초마다 갱신되는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2B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거리 그래프와 지표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417320"/>
            <a:ext cx="26974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4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563624"/>
            <a:ext cx="64008" cy="987552"/>
          </a:xfrm>
          <a:prstGeom prst="rect">
            <a:avLst/>
          </a:prstGeom>
          <a:solidFill>
            <a:srgbClr val="00A39A"/>
          </a:solidFill>
          <a:ln/>
        </p:spPr>
      </p:sp>
      <p:sp>
        <p:nvSpPr>
          <p:cNvPr id="11" name="Text 9"/>
          <p:cNvSpPr/>
          <p:nvPr/>
        </p:nvSpPr>
        <p:spPr>
          <a:xfrm>
            <a:off x="3538728" y="1545336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0A3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노이즈 필터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538728" y="1874520"/>
            <a:ext cx="2368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2B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20점 이동평균으로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2B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센서 흔들림 보정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26974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4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980944"/>
            <a:ext cx="64008" cy="987552"/>
          </a:xfrm>
          <a:prstGeom prst="rect">
            <a:avLst/>
          </a:prstGeom>
          <a:solidFill>
            <a:srgbClr val="8917E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962656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917E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자동 / 수동 모드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8368" y="3291840"/>
            <a:ext cx="2368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2B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거리 기반 자동 제어와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2B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버튼 수동 제어 병행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37560" y="2834640"/>
            <a:ext cx="26974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4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37560" y="2980944"/>
            <a:ext cx="64008" cy="987552"/>
          </a:xfrm>
          <a:prstGeom prst="rect">
            <a:avLst/>
          </a:prstGeom>
          <a:solidFill>
            <a:srgbClr val="00A39A"/>
          </a:solidFill>
          <a:ln/>
        </p:spPr>
      </p:sp>
      <p:sp>
        <p:nvSpPr>
          <p:cNvPr id="19" name="Text 17"/>
          <p:cNvSpPr/>
          <p:nvPr/>
        </p:nvSpPr>
        <p:spPr>
          <a:xfrm>
            <a:off x="3538728" y="2962656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0A3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JSON 시리얼 통신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538728" y="3291840"/>
            <a:ext cx="2368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2B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USB 115200 baud,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2B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줄 JSON 메시지</a:t>
            </a:r>
            <a:endParaRPr lang="en-US" sz="1100" dirty="0"/>
          </a:p>
        </p:txBody>
      </p:sp>
      <p:pic>
        <p:nvPicPr>
          <p:cNvPr id="21" name="Image 0" descr="/Users/safecorners/Projects/streamlit/students/8days-nayoon/docs/diagrams/06-app-stru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417320"/>
            <a:ext cx="2157384" cy="324612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126480" y="46634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Streamlit 앱 구조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412480" y="4828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8917E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78992" y="384048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2B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기획 동기 &amp; 작품의 장점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858000" y="45720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00A39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0" y="457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결과보고서 작성 항목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07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아래 질문에 답하며 직접 작성해 보세요.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591056"/>
            <a:ext cx="4160520" cy="2926080"/>
          </a:xfrm>
          <a:prstGeom prst="roundRect">
            <a:avLst>
              <a:gd name="adj" fmla="val 2500"/>
            </a:avLst>
          </a:prstGeom>
          <a:solidFill>
            <a:srgbClr val="F1E9F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773936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917E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이런 점을 생각해 보세요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3657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2B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왜 이 주제를 선택했나요? 어떤 불편함을 해결하고 싶었나요?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2B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(참고) 어두운 복도·주차장에서 자동으로 불이 켜지면?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2B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다른 방식과 비교해 내 작품의 장점은 무엇인가요?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2B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자동/수동 제어, 실시간 시각화 중 가장 큰 장점은?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800600" y="1591056"/>
            <a:ext cx="38862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875">
            <a:solidFill>
              <a:srgbClr val="00A39A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0" y="175564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3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작성란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56632" y="2459736"/>
            <a:ext cx="3374136" cy="0"/>
          </a:xfrm>
          <a:prstGeom prst="line">
            <a:avLst/>
          </a:prstGeom>
          <a:noFill/>
          <a:ln w="12700">
            <a:solidFill>
              <a:srgbClr val="D9D4E6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056632" y="2880360"/>
            <a:ext cx="3374136" cy="0"/>
          </a:xfrm>
          <a:prstGeom prst="line">
            <a:avLst/>
          </a:prstGeom>
          <a:noFill/>
          <a:ln w="12700">
            <a:solidFill>
              <a:srgbClr val="D9D4E6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5056632" y="3300984"/>
            <a:ext cx="3374136" cy="0"/>
          </a:xfrm>
          <a:prstGeom prst="line">
            <a:avLst/>
          </a:prstGeom>
          <a:noFill/>
          <a:ln w="12700">
            <a:solidFill>
              <a:srgbClr val="D9D4E6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056632" y="3721608"/>
            <a:ext cx="3374136" cy="0"/>
          </a:xfrm>
          <a:prstGeom prst="line">
            <a:avLst/>
          </a:prstGeom>
          <a:noFill/>
          <a:ln w="12700">
            <a:solidFill>
              <a:srgbClr val="D9D4E6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5056632" y="4142232"/>
            <a:ext cx="3374136" cy="0"/>
          </a:xfrm>
          <a:prstGeom prst="line">
            <a:avLst/>
          </a:prstGeom>
          <a:noFill/>
          <a:ln w="12700">
            <a:solidFill>
              <a:srgbClr val="D9D4E6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5056632" y="2093976"/>
            <a:ext cx="3374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예) 나는 ~한 이유로 이 주제를 정했고, 이 작품의 장점은 ~이다.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78992" y="91440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결과보고서 항목 — 프로젝트 기획 동기 및 작품의 장점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2480" y="4828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8917E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78992" y="384048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2B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진행 시 어려웠던 점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858000" y="45720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00A39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0" y="457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결과보고서 작성 항목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07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구체적인 상황과 해결 과정을 함께 적으면 좋아요.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591056"/>
            <a:ext cx="4160520" cy="2926080"/>
          </a:xfrm>
          <a:prstGeom prst="roundRect">
            <a:avLst>
              <a:gd name="adj" fmla="val 2500"/>
            </a:avLst>
          </a:prstGeom>
          <a:solidFill>
            <a:srgbClr val="F1E9F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773936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917E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이런 점을 생각해 보세요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3657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2B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기술적으로 가장 막혔던 부분은 무엇이었나요?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2B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(예) 센서 값이 튀거나, 시리얼 통신이 끊기던 문제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2B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 문제를 어떻게 해결했나요? 무엇을 시도했나요?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2B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다시 한다면 무엇을 다르게 하고 싶나요?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800600" y="1591056"/>
            <a:ext cx="38862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875">
            <a:solidFill>
              <a:srgbClr val="00A39A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0" y="175564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3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작성란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56632" y="2459736"/>
            <a:ext cx="3374136" cy="0"/>
          </a:xfrm>
          <a:prstGeom prst="line">
            <a:avLst/>
          </a:prstGeom>
          <a:noFill/>
          <a:ln w="12700">
            <a:solidFill>
              <a:srgbClr val="D9D4E6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056632" y="2880360"/>
            <a:ext cx="3374136" cy="0"/>
          </a:xfrm>
          <a:prstGeom prst="line">
            <a:avLst/>
          </a:prstGeom>
          <a:noFill/>
          <a:ln w="12700">
            <a:solidFill>
              <a:srgbClr val="D9D4E6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5056632" y="3300984"/>
            <a:ext cx="3374136" cy="0"/>
          </a:xfrm>
          <a:prstGeom prst="line">
            <a:avLst/>
          </a:prstGeom>
          <a:noFill/>
          <a:ln w="12700">
            <a:solidFill>
              <a:srgbClr val="D9D4E6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056632" y="3721608"/>
            <a:ext cx="3374136" cy="0"/>
          </a:xfrm>
          <a:prstGeom prst="line">
            <a:avLst/>
          </a:prstGeom>
          <a:noFill/>
          <a:ln w="12700">
            <a:solidFill>
              <a:srgbClr val="D9D4E6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5056632" y="4142232"/>
            <a:ext cx="3374136" cy="0"/>
          </a:xfrm>
          <a:prstGeom prst="line">
            <a:avLst/>
          </a:prstGeom>
          <a:noFill/>
          <a:ln w="12700">
            <a:solidFill>
              <a:srgbClr val="D9D4E6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5056632" y="2093976"/>
            <a:ext cx="3374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예) ~할 때 ~문제가 생겼고, ~방법으로 해결했다.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78992" y="91440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결과보고서 항목 — 프로젝트 진행 시 어려웠던 점 (구체적일수록 좋아요)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2480" y="4828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8917E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78992" y="384048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2B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스스로 칭찬하고 싶은 일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858000" y="45720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00A39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0" y="457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결과보고서 작성 항목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07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결과뿐 아니라 과정에서 잘한 점도 좋아요.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591056"/>
            <a:ext cx="4160520" cy="2926080"/>
          </a:xfrm>
          <a:prstGeom prst="roundRect">
            <a:avLst>
              <a:gd name="adj" fmla="val 2500"/>
            </a:avLst>
          </a:prstGeom>
          <a:solidFill>
            <a:srgbClr val="F1E9F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773936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917E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이런 점을 생각해 보세요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3657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2B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끝까지 포기하지 않고 해낸 일은 무엇인가요?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2B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프로그램 전과 비교해 어떤 점이 성장했나요?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2B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스스로 뿌듯했던 순간은 언제였나요?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2B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친구·선생님과 협력하며 잘한 점이 있나요?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800600" y="1591056"/>
            <a:ext cx="38862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875">
            <a:solidFill>
              <a:srgbClr val="00A39A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0" y="175564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3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작성란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56632" y="2459736"/>
            <a:ext cx="3374136" cy="0"/>
          </a:xfrm>
          <a:prstGeom prst="line">
            <a:avLst/>
          </a:prstGeom>
          <a:noFill/>
          <a:ln w="12700">
            <a:solidFill>
              <a:srgbClr val="D9D4E6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056632" y="2880360"/>
            <a:ext cx="3374136" cy="0"/>
          </a:xfrm>
          <a:prstGeom prst="line">
            <a:avLst/>
          </a:prstGeom>
          <a:noFill/>
          <a:ln w="12700">
            <a:solidFill>
              <a:srgbClr val="D9D4E6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5056632" y="3300984"/>
            <a:ext cx="3374136" cy="0"/>
          </a:xfrm>
          <a:prstGeom prst="line">
            <a:avLst/>
          </a:prstGeom>
          <a:noFill/>
          <a:ln w="12700">
            <a:solidFill>
              <a:srgbClr val="D9D4E6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056632" y="3721608"/>
            <a:ext cx="3374136" cy="0"/>
          </a:xfrm>
          <a:prstGeom prst="line">
            <a:avLst/>
          </a:prstGeom>
          <a:noFill/>
          <a:ln w="12700">
            <a:solidFill>
              <a:srgbClr val="D9D4E6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5056632" y="4142232"/>
            <a:ext cx="3374136" cy="0"/>
          </a:xfrm>
          <a:prstGeom prst="line">
            <a:avLst/>
          </a:prstGeom>
          <a:noFill/>
          <a:ln w="12700">
            <a:solidFill>
              <a:srgbClr val="D9D4E6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5056632" y="2093976"/>
            <a:ext cx="3374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예) 나는 ~을 끝까지 해낸 점을 칭찬하고 싶다.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78992" y="91440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결과보고서 항목 — 프로그램에 참여하는 동안 스스로를 칭찬해주고 싶었던 일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2480" y="4828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8917E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78992" y="384048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2B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진로 연계 &amp; 향후 탐구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858000" y="45720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00A39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0" y="457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결과보고서 작성 항목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07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내 진로와 연결해 다음 목표를 적어 보세요.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591056"/>
            <a:ext cx="4160520" cy="2926080"/>
          </a:xfrm>
          <a:prstGeom prst="roundRect">
            <a:avLst>
              <a:gd name="adj" fmla="val 2500"/>
            </a:avLst>
          </a:prstGeom>
          <a:solidFill>
            <a:srgbClr val="F1E9F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773936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917E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이런 점을 생각해 보세요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3657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2B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활동이 내 진로와 어떻게 연결되나요?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2B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다음에 추가하고 싶은 기능은 무엇인가요?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2B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(예) Gemini AI 챗봇 제어, 센서·서보모터 확장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2B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더 배우고 싶은 기술이나 알고 싶은 점은?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800600" y="1591056"/>
            <a:ext cx="38862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875">
            <a:solidFill>
              <a:srgbClr val="00A39A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0" y="175564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3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작성란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56632" y="2459736"/>
            <a:ext cx="3374136" cy="0"/>
          </a:xfrm>
          <a:prstGeom prst="line">
            <a:avLst/>
          </a:prstGeom>
          <a:noFill/>
          <a:ln w="12700">
            <a:solidFill>
              <a:srgbClr val="D9D4E6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056632" y="2880360"/>
            <a:ext cx="3374136" cy="0"/>
          </a:xfrm>
          <a:prstGeom prst="line">
            <a:avLst/>
          </a:prstGeom>
          <a:noFill/>
          <a:ln w="12700">
            <a:solidFill>
              <a:srgbClr val="D9D4E6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5056632" y="3300984"/>
            <a:ext cx="3374136" cy="0"/>
          </a:xfrm>
          <a:prstGeom prst="line">
            <a:avLst/>
          </a:prstGeom>
          <a:noFill/>
          <a:ln w="12700">
            <a:solidFill>
              <a:srgbClr val="D9D4E6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056632" y="3721608"/>
            <a:ext cx="3374136" cy="0"/>
          </a:xfrm>
          <a:prstGeom prst="line">
            <a:avLst/>
          </a:prstGeom>
          <a:noFill/>
          <a:ln w="12700">
            <a:solidFill>
              <a:srgbClr val="D9D4E6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5056632" y="4142232"/>
            <a:ext cx="3374136" cy="0"/>
          </a:xfrm>
          <a:prstGeom prst="line">
            <a:avLst/>
          </a:prstGeom>
          <a:noFill/>
          <a:ln w="12700">
            <a:solidFill>
              <a:srgbClr val="D9D4E6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5056632" y="2093976"/>
            <a:ext cx="3374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예) 나는 ~분야로 나아가고 싶고, 다음엔 ~을 만들어 보고 싶다.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78992" y="91440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결과보고서 항목 — 진로와 연계해 앞으로 더 탐구·도전하고 싶은 과제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2480" y="4828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8917E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78992" y="384048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2B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프로젝트 작품 사진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858000" y="45720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00A39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0" y="457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결과보고서 작성 항목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06070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실제 제작한 작품·회로·작동 장면 사진을 아래 칸에 넣어 보고서에 함께 제출하세요.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F6F4FB"/>
          </a:solidFill>
          <a:ln w="15875">
            <a:solidFill>
              <a:srgbClr val="8917E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57200" y="23545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917E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사진을 넣어 주세요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7203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 작품 전체 모습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64408" y="150876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F6F4FB"/>
          </a:solidFill>
          <a:ln w="15875">
            <a:solidFill>
              <a:srgbClr val="8917E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3264408" y="23545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917E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사진을 넣어 주세요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64408" y="27203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 회로 연결 모습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71616" y="150876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F6F4FB"/>
          </a:solidFill>
          <a:ln w="15875">
            <a:solidFill>
              <a:srgbClr val="8917E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6071616" y="23545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917E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사진을 넣어 주세요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71616" y="27203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③ 작동 장면 (LED ON)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39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참고  </a:t>
            </a:r>
            <a:pPr indent="0" marL="0">
              <a:buNone/>
            </a:pPr>
            <a:r>
              <a:rPr lang="en-US" sz="1150" dirty="0">
                <a:solidFill>
                  <a:srgbClr val="2B2B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docs/diagrams 폴더의 시스템 구성도·회로도·작동 흐름 다이어그램도 보고서에 함께 활용할 수 있어요.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412480" y="4828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거리 기반 자동 제어 시스템 — 포트폴리오</dc:title>
  <dc:subject>PptxGenJS Presentation</dc:subject>
  <dc:creator>8days-nayoon</dc:creator>
  <cp:lastModifiedBy>8days-nayoon</cp:lastModifiedBy>
  <cp:revision>1</cp:revision>
  <dcterms:created xsi:type="dcterms:W3CDTF">2026-06-19T05:16:16Z</dcterms:created>
  <dcterms:modified xsi:type="dcterms:W3CDTF">2026-06-19T05:16:16Z</dcterms:modified>
</cp:coreProperties>
</file>